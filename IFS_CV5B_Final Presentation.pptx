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  <p:sldId id="266" r:id="rId12"/>
    <p:sldId id="273" r:id="rId13"/>
    <p:sldId id="275" r:id="rId14"/>
    <p:sldId id="279" r:id="rId15"/>
    <p:sldId id="267" r:id="rId16"/>
    <p:sldId id="278" r:id="rId17"/>
    <p:sldId id="276" r:id="rId18"/>
    <p:sldId id="268" r:id="rId19"/>
    <p:sldId id="277" r:id="rId20"/>
    <p:sldId id="269" r:id="rId21"/>
    <p:sldId id="270" r:id="rId22"/>
    <p:sldId id="271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elligent Forming Systems" id="{854CB715-DBF2-4BA9-AF0F-DE33D7690F0E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5"/>
            <p14:sldId id="264"/>
            <p14:sldId id="266"/>
            <p14:sldId id="273"/>
            <p14:sldId id="275"/>
            <p14:sldId id="279"/>
            <p14:sldId id="267"/>
            <p14:sldId id="278"/>
            <p14:sldId id="276"/>
            <p14:sldId id="268"/>
            <p14:sldId id="277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3F382F-05E9-9B8E-816F-E2B8096F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320F1-B028-8872-822D-1A64EB0BFBE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F4E62D-E48A-4C9F-AABC-45504AD151A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ED6C1C-9D8B-AFE2-903C-88724E92AA1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Intelligent Forming Systems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465F08-87E8-9A2F-08CC-60E67789E70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95DC28-FFC3-4D87-9021-BA47B4CBB27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364339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757918-A4E8-484E-BC38-5C539CBD438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IN"/>
              <a:t>Intelligent Forming Systems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4EE63-FA5C-46B2-A1E4-D91B06B729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719856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E920E-9198-0F96-84EE-EDE31A047A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F5C291-0FD4-F449-8E22-D53FD65D9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06EEC-6088-C77F-C000-54E9EE6EE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BF2A82-7932-4853-8298-D5D5229D4BD4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BBA63-A0A5-4E2A-95E3-2572C58D9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45278-776F-6095-5D91-051AEB322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333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96FCF0-D6E0-22A4-1555-D7F0DC373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06103-D833-1004-E178-6AC1797A6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596CDD-0196-CC3E-7668-7CD1129DD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BA691-2762-41F1-B1C9-8FEEFB4FB00C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53897F-3E59-1865-3719-F8CB77158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714C20-371C-7E51-25F3-D8C8043BA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57383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24489-D763-3AB1-0A7A-B3253DC96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C230D-B060-EBED-D88B-CD9CF53712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0CFADD-24F2-AEEE-E4B9-33D3187BE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235B0D-019E-4493-AD0D-6CBB3891811D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B702B9-E3AA-48AD-8D11-697E59599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AE274-7F4F-7012-8382-BA0ABC349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840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B43F4-5CA9-ABF5-AAB1-055FE6F0C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57BD95-65AA-6D96-76FA-48197BABC3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A4464-FF69-2546-DF53-228793A65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39F355-B44C-5297-2F2D-D30DAEE6A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5FBF77-7AB9-499C-8767-5232389D56D3}" type="datetime1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D03065-B3FE-66A4-E25D-BF06040B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71678C-E6A2-9105-DB85-B7A304B6E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48615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286D7-CF60-E454-5CD0-FAA96605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9787EC-B962-C73B-6CF2-180501A444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190DC4-DD43-4CE4-7D8B-8E08DD1E5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718A742-FB3F-A24D-5F43-FB8A7FEBDB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CC8B9-9A59-853E-6543-DF810F953EF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184697-6F6A-6D12-CF7B-54699389B6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70B99E-8303-4089-8D65-F9363B14662C}" type="datetime1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21A0B4-32F2-73C8-36DB-11E56B84C6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B95C34-D282-2580-7721-DA2F66285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0162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B3CF3-9CC8-21C2-F0D5-66BDD0E71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21265A-A098-BB01-AC58-BE7903FC58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D682F2-9E8E-4664-8EF4-C039E2884990}" type="datetime1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3229D-218B-0242-089F-687E8361A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B7EE03C-63CC-CDBF-EC77-DF548A287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053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A971B1-310E-6883-D9E6-579ADD60C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935552-9A98-4D8B-834B-29DC7DA1A3C7}" type="datetime1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B07EA-4832-B04D-2CF0-B87D19257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20C35C-E99D-7598-E548-064E1B5E3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352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ECC80-E21C-C025-98B2-05C4E05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A6257-AD90-5238-DDE6-6E544ADD8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58754F-7C36-8F39-A731-0DB35F29A4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8DD0D5-6DA7-3953-AB1F-DD4E1B2BB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FD759C-1F1D-46CB-A0EC-73F059E9CC81}" type="datetime1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4E02EA-2C01-E52D-4CE5-F84472A6F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6AF24-D6A7-C2BC-56F1-235B92195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1722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EFED99-2A62-5889-CD8F-930483082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03E9F6B-868B-F00D-950D-1337B06BA9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BE345D-0CD9-A540-2A03-FF43E1F052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17121C-751E-9614-05C4-5BAED725C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E126E4-EA72-4E9B-AE44-2267B591B4C8}" type="datetime1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BCE459-420B-4FD3-22B4-DF8CEF9DB7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A8FB5E-199A-D0D8-30CF-F1DF53AD3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0296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0BE9-1313-BE80-38D0-50AC553F76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F04EF-4BFA-5896-3971-026AECB6EE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259F17-387E-133F-4AF8-5C834957E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BEBE14-499A-49CC-8573-CB84B3B33A6E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8DB84-32EE-14EE-CC4D-850E83EC9B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628E32-E86D-2092-CEB8-72FEED0C7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1677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30414F-A313-A637-D369-36F40AF8E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A8F8A-DD59-3803-CD95-36CA3BBE92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3BB08-2FD7-A0A1-B88A-3813FC81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7653FC-DEAC-49D3-87A5-AE47183C55EA}" type="datetime1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D5696-D509-8958-EAD9-49D5A73835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r>
              <a:rPr lang="en-IN"/>
              <a:t>Intelligent Forming Systems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8BDFF-FF23-8F2B-ACCF-D7FD5F37E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EED8C4-E037-4636-9421-1C13BE6A6E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6974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133600-5893-7365-0F26-820CA233C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4BF230-35F0-1C8A-E16F-9254864A28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C334CD-EADC-CDE4-AF2A-038B66D62B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0837" y="6356350"/>
            <a:ext cx="44334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83FC59DB-2E77-4C37-B66D-596DDD516C68}" type="datetime1">
              <a:rPr lang="en-IN" smtClean="0"/>
              <a:t>09-02-2026</a:t>
            </a:fld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03D8B1-65F5-192E-C737-8A4CEC19C1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45945" y="634711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 altLang="de-DE" dirty="0">
                <a:solidFill>
                  <a:srgbClr val="808080"/>
                </a:solidFill>
              </a:rPr>
              <a:t>Intelligent Forming Systems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4236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microsoft.com/office/2007/relationships/media" Target="../media/media2.mp4"/><Relationship Id="rId7" Type="http://schemas.openxmlformats.org/officeDocument/2006/relationships/image" Target="../media/image8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2.xml"/><Relationship Id="rId10" Type="http://schemas.openxmlformats.org/officeDocument/2006/relationships/image" Target="../media/image3.png"/><Relationship Id="rId4" Type="http://schemas.openxmlformats.org/officeDocument/2006/relationships/video" Target="../media/media2.mp4"/><Relationship Id="rId9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https://developer.nvidia.com/embedded/learn/tutorials/first-picture-csi-usb-camera" TargetMode="External"/><Relationship Id="rId7" Type="http://schemas.openxmlformats.org/officeDocument/2006/relationships/image" Target="../media/image1.png"/><Relationship Id="rId2" Type="http://schemas.openxmlformats.org/officeDocument/2006/relationships/hyperlink" Target="https://docs.nvidia.com/jetson/archives/r35.5.0/DeveloperGuide/SD/Multimedia/AcceleratedGstreamer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eveloper.nvidia.com/blog/implementing-real-time-multi-camera-pipelines-with-nvidia-jetson/" TargetMode="External"/><Relationship Id="rId5" Type="http://schemas.openxmlformats.org/officeDocument/2006/relationships/hyperlink" Target="https://catalog.ngc.nvidia.com/orgs/nvidia/teams/tao/models/dashcamnet" TargetMode="External"/><Relationship Id="rId4" Type="http://schemas.openxmlformats.org/officeDocument/2006/relationships/hyperlink" Target="https://docs.nvidia.com/jetson/archives/r35.4.1/DeveloperGuide/text/SD/CameraDevelopment.html" TargetMode="External"/><Relationship Id="rId9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9D3DB-703E-97F3-EA7E-A76B6A7D55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7587" y="-175495"/>
            <a:ext cx="10943304" cy="23876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anose="020B0604020202020204" pitchFamily="34" charset="0"/>
                <a:cs typeface="Arial" panose="020B0604020202020204" pitchFamily="34" charset="0"/>
              </a:rPr>
              <a:t>AI human detection with Person-specific Recognition for a Robot Cell </a:t>
            </a:r>
            <a:endParaRPr lang="en-IN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97799D-C572-B114-CD55-A50C50A90A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459" y="2589316"/>
            <a:ext cx="10844980" cy="1655762"/>
          </a:xfrm>
        </p:spPr>
        <p:txBody>
          <a:bodyPr>
            <a:normAutofit fontScale="25000" lnSpcReduction="20000"/>
          </a:bodyPr>
          <a:lstStyle/>
          <a:p>
            <a:r>
              <a:rPr lang="en-IN" sz="11200" b="1" dirty="0">
                <a:latin typeface="Arial" panose="020B0604020202020204" pitchFamily="34" charset="0"/>
                <a:cs typeface="Arial" panose="020B0604020202020204" pitchFamily="34" charset="0"/>
              </a:rPr>
              <a:t>Group Number – CV5B</a:t>
            </a:r>
          </a:p>
          <a:p>
            <a:endParaRPr lang="en-IN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9600" b="1" dirty="0">
                <a:latin typeface="Arial" panose="020B0604020202020204" pitchFamily="34" charset="0"/>
                <a:cs typeface="Arial" panose="020B0604020202020204" pitchFamily="34" charset="0"/>
              </a:rPr>
              <a:t> Group Members</a:t>
            </a:r>
          </a:p>
          <a:p>
            <a:r>
              <a:rPr lang="en-IN" sz="8000" dirty="0">
                <a:latin typeface="Arial" panose="020B0604020202020204" pitchFamily="34" charset="0"/>
                <a:cs typeface="Arial" panose="020B0604020202020204" pitchFamily="34" charset="0"/>
              </a:rPr>
              <a:t>               Avaneesh Vetrivelan                                                              :605454</a:t>
            </a:r>
          </a:p>
          <a:p>
            <a:r>
              <a:rPr lang="en-IN" sz="8000" dirty="0">
                <a:latin typeface="Arial" panose="020B0604020202020204" pitchFamily="34" charset="0"/>
                <a:cs typeface="Arial" panose="020B0604020202020204" pitchFamily="34" charset="0"/>
              </a:rPr>
              <a:t>              Charan Prasad Ramaswamy Govinda Prasad                      :605515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              Jashwanth Kalegowda                                                           :601780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              Mohammed Imaad                                                                 :605772</a:t>
            </a:r>
          </a:p>
          <a:p>
            <a:r>
              <a:rPr lang="en-US" sz="8000" dirty="0">
                <a:latin typeface="Arial" panose="020B0604020202020204" pitchFamily="34" charset="0"/>
                <a:cs typeface="Arial" panose="020B0604020202020204" pitchFamily="34" charset="0"/>
              </a:rPr>
              <a:t>              Prajwal Babu Reddy                                                              :604347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1200" b="1" dirty="0">
                <a:latin typeface="Arial" panose="020B0604020202020204" pitchFamily="34" charset="0"/>
                <a:cs typeface="Arial" panose="020B0604020202020204" pitchFamily="34" charset="0"/>
              </a:rPr>
              <a:t>Intelligent Forming Systems </a:t>
            </a:r>
          </a:p>
          <a:p>
            <a:r>
              <a:rPr lang="en-US" sz="8000" i="1" dirty="0">
                <a:latin typeface="Arial" panose="020B0604020202020204" pitchFamily="34" charset="0"/>
                <a:cs typeface="Arial" panose="020B0604020202020204" pitchFamily="34" charset="0"/>
              </a:rPr>
              <a:t>MSc. Johannes </a:t>
            </a:r>
            <a:r>
              <a:rPr lang="en-US" sz="8000" i="1" dirty="0" err="1">
                <a:latin typeface="Arial" panose="020B0604020202020204" pitchFamily="34" charset="0"/>
                <a:cs typeface="Arial" panose="020B0604020202020204" pitchFamily="34" charset="0"/>
              </a:rPr>
              <a:t>Pusicha</a:t>
            </a:r>
            <a:endParaRPr lang="en-US" sz="8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8000" i="1" dirty="0">
                <a:latin typeface="Arial" panose="020B0604020202020204" pitchFamily="34" charset="0"/>
                <a:cs typeface="Arial" panose="020B0604020202020204" pitchFamily="34" charset="0"/>
              </a:rPr>
              <a:t>Prof. Dr. Johannes Buhl</a:t>
            </a:r>
            <a:endParaRPr lang="en-IN" sz="8000" i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3C1D99C-822B-2107-91D3-21D646B84F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0A3F793-ECE9-BB6A-EFB5-1CB140CBBF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E3B51F-AB80-24D6-143F-FF9771869ED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BF06036-1E90-1783-082D-8B6CCE5605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448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93584-7011-DCF4-BF44-F1DC3EDF8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4509" y="34546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Aim and Objectives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5C3BC1-0308-BFC3-01D7-14F6F06AFB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316" y="1445341"/>
            <a:ext cx="11847871" cy="4994787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Aim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just"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To design and deploy a near real‑time camera-based system on an NVIDIA Jetson Nano that reliably detects and identifies humans in a robot cell, triggers appropriate safety signal, and can be configured for different scenes without retraining.​</a:t>
            </a:r>
          </a:p>
          <a:p>
            <a:pPr marL="0" indent="0" algn="just">
              <a:buNone/>
            </a:pP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Objectives</a:t>
            </a:r>
            <a:r>
              <a:rPr lang="en-US" sz="23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Goal: Vision-based safety system for robot cells that detects only humans entering a defined safety zone and triggers a robot stop warning.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Robust Detection: Reliably ignores robot, grippers, and workpieces; focuses solely on human presence.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Configurable Deployment: Scene profiles/calibration to adapt to different cells/rooms without retraining the core model.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Performance: Runs on NVIDIA Jetson Nano.</a:t>
            </a:r>
          </a:p>
          <a:p>
            <a:pPr marL="0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FFB87B-DF5B-B886-FB01-A0453FC45D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7C4D45-0B66-CB14-7B71-9A4D679BAA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66FB25-AA16-69AC-DB7E-4A5E74363FF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4133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FF9F6-A4EF-852F-54B5-F69467D1A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2831" y="40312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Project Motivation and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2C2A4C-652B-00B6-CE20-4B6AA4202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7820" y="1486411"/>
            <a:ext cx="11828208" cy="558789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Project Motivation</a:t>
            </a: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Robotized forming cells → higher safety demands</a:t>
            </a:r>
            <a:endParaRPr lang="en-US" altLang="en-US" sz="1800" dirty="0">
              <a:solidFill>
                <a:srgbClr val="4242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human/machine distinction → false stops &amp; downtime</a:t>
            </a:r>
            <a:endParaRPr lang="en-US" altLang="en-US" sz="1800" dirty="0">
              <a:solidFill>
                <a:srgbClr val="4242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rgbClr val="111827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Vision-based, human-focused layer → targets people only, reduces unnecessary stops</a:t>
            </a:r>
            <a:endParaRPr lang="en-US" altLang="en-US" sz="1800" dirty="0">
              <a:solidFill>
                <a:srgbClr val="42424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br>
              <a:rPr lang="en-US" altLang="en-US" sz="800" dirty="0">
                <a:solidFill>
                  <a:srgbClr val="212121"/>
                </a:solidFill>
                <a:latin typeface="Inter"/>
              </a:rPr>
            </a:br>
            <a:endParaRPr lang="en-US" sz="1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Issue: Safety-rated sensors cannot distinguish humans vs. objects, causing false trips and unnecessary downtime.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Need: Camera-based, human-only detection in  robot-cell zones with safety actions.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Robustness: Must work across different cells/rooms, be reconfigurable via calibration/profiles, no full retraining.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Advanced behavior: Recognize specific individuals .</a:t>
            </a:r>
          </a:p>
          <a:p>
            <a:pPr algn="just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Constraint: Run on limited compute – NVIDIA Jetson Nano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3AD8EB9-23C7-E937-B663-67D9EF772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A1EF5B-1261-00C9-155D-B9BAD09712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017178D-94E8-2C57-77B6-080B1F60C6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33A8EF53-BEBB-4AF9-EE56-CC7E14C35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458" y="1941111"/>
            <a:ext cx="65" cy="38497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372675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F1726C-66B1-6E6B-C644-8635A3A55C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7362" y="355293"/>
            <a:ext cx="10515600" cy="1325563"/>
          </a:xfrm>
        </p:spPr>
        <p:txBody>
          <a:bodyPr/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Key Technical Challenges</a:t>
            </a:r>
            <a:r>
              <a:rPr lang="en-IN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572FCB-F8DA-3549-8EDF-78C118EF06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749" y="1491329"/>
            <a:ext cx="11235812" cy="5027458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Real-time on Jetson Nano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Near  FPS with deep-learning models on resource‑constrained hardware.</a:t>
            </a: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Reliable human‑only detection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Distinguish humans vs. robots/grippers/workpieces in dynamic cells with occlusions and overlapping motion.</a:t>
            </a: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Robustness to environment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Handle lighting changes, metal reflections, shadows, and varying camera viewpoints.</a:t>
            </a:r>
          </a:p>
          <a:p>
            <a:pPr marL="457200" lvl="1" indent="0">
              <a:buNone/>
            </a:pP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Scene adaptation via configuration</a:t>
            </a:r>
          </a:p>
          <a:p>
            <a:pPr lvl="1"/>
            <a:r>
              <a:rPr lang="en-US" sz="1800" dirty="0">
                <a:latin typeface="Arial" panose="020B0604020202020204" pitchFamily="34" charset="0"/>
                <a:cs typeface="Arial" panose="020B0604020202020204" pitchFamily="34" charset="0"/>
              </a:rPr>
              <a:t>Adapt to different cells/rooms, layouts, safety zones through calibration/profiles only – no model retraining.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651FED3-0200-0638-ACEB-ABC7BF52AA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E7181C-87E7-9AEA-08CC-5205C90C77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C9C275D-D6D0-EEDE-3E24-12D08A32A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391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CB4E0-C417-DC17-ED96-E45AA850F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730" y="54210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29F344-4680-10C1-57DE-503AAE014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5473" y="1656735"/>
            <a:ext cx="11326761" cy="5014452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Functional Requirements: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Detect humans entering a defined robot‑cell area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Ignore non‑human motion (robot arm, grippers, workpieces)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Generate a signal when a human is inside safety zone and save it in EXCEL sheet</a:t>
            </a:r>
          </a:p>
          <a:p>
            <a:pPr lvl="1">
              <a:lnSpc>
                <a:spcPct val="100000"/>
              </a:lnSpc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Arial" panose="020B0604020202020204" pitchFamily="34" charset="0"/>
                <a:cs typeface="Arial" panose="020B0604020202020204" pitchFamily="34" charset="0"/>
              </a:rPr>
              <a:t>Non‑Functional Requirements: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Run on NVIDIA Jetson Nano (≥ X FPS)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Provide robust detection under moderate occlusions</a:t>
            </a:r>
          </a:p>
          <a:p>
            <a:pPr lvl="1">
              <a:lnSpc>
                <a:spcPct val="10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Scene setup / calibration must be doable by an operator (no deep AI expertise)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548690-43A9-32D9-5FA6-373A9949A2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802E2A5-0D66-BCEC-0BEB-633AFFE7C6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BEC4E3F-2819-19AA-7F69-4C14C7EFD6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19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471AC-3BD2-A802-C2A4-5EC06CD76E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76696"/>
            <a:ext cx="11906865" cy="5391252"/>
          </a:xfrm>
        </p:spPr>
        <p:txBody>
          <a:bodyPr>
            <a:normAutofit/>
          </a:bodyPr>
          <a:lstStyle/>
          <a:p>
            <a:pPr marL="0" indent="0">
              <a:buNone/>
            </a:pPr>
            <a:b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6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Sensing Layer (Camera)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Raspberry Pi Camera mounted to view the robot cell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Continuously captures video frames (e.g., 720p/1080p) and streams to Jetson Nano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2.Edge AI Layer (Jetson Nano – Vision Processing)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Frame acquisition: Python + OpenCV read camera frames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Human detection: Roboflow / YOLO model outputs person bounding boxes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Zone checking: Compares detections with predefined safety zone(s)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3.Configuration 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Configure files / simple UI store: camera pose, ROI, safety‑zone coordinates, thresholds, performance settings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4.Control &amp; Interface Layer (Robot / Safety System)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Unauthorized human inside safety zone → send STOP signal to robot/safety logic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No human in zone → maintain RUN / normal operation signal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6C0894-28F3-B900-9299-C41F2CE069F9}"/>
              </a:ext>
            </a:extLst>
          </p:cNvPr>
          <p:cNvSpPr txBox="1"/>
          <p:nvPr/>
        </p:nvSpPr>
        <p:spPr>
          <a:xfrm>
            <a:off x="865239" y="609599"/>
            <a:ext cx="110612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High Level System Architecture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398A59-8271-9B45-C58C-2C92320811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E28798-696D-E9B8-1ABE-26860172B0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A831EA31-5002-4305-4072-CE96319671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0943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399731-5FBA-F779-EBFC-DF535D62C2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082" y="1687973"/>
            <a:ext cx="11688099" cy="4250711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1.NVIDIA Jetson Nano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Edge AI compute platform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Runs human‑detection model and decision logic in near real time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Processes camera frames and sends warning/stop signals</a:t>
            </a:r>
          </a:p>
          <a:p>
            <a:pPr marL="457200" lvl="1" indent="0">
              <a:buNone/>
            </a:pP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2.Raspberry Pi Camera (MIPI CSI)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Continuous video capture of robot cell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Feeds image stream to Jetson for detection</a:t>
            </a:r>
          </a:p>
          <a:p>
            <a:pPr marL="457200" lvl="1" indent="0">
              <a:buNone/>
            </a:pP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3.Tripod / Camera Mount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Fixed, stable camera position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Correct viewing angle and coverage of safety zone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Enables repeatable calibration</a:t>
            </a:r>
          </a:p>
          <a:p>
            <a:pPr marL="457200" lvl="1" indent="0">
              <a:buNone/>
            </a:pPr>
            <a:endParaRPr lang="en-IN" sz="72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4.Power Source and Peripherals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Reliable power for Jetson.</a:t>
            </a:r>
          </a:p>
          <a:p>
            <a:pPr lvl="1"/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Keyboard and Monitor as peripherals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279387-5124-7191-86AF-395B774C1B24}"/>
              </a:ext>
            </a:extLst>
          </p:cNvPr>
          <p:cNvSpPr txBox="1"/>
          <p:nvPr/>
        </p:nvSpPr>
        <p:spPr>
          <a:xfrm>
            <a:off x="1376516" y="737419"/>
            <a:ext cx="97339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Hardware Components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94D965-4FA4-C066-2217-23E4859513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2CD0DC-432E-6F45-6E2D-499C95C2F2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1739" y="6474194"/>
            <a:ext cx="2333951" cy="295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3582184-8D6F-5224-BEA3-F656A080C6F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7947"/>
            <a:ext cx="4801270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06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F264F0-B8B3-25E5-5827-51F5536D7D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2786" y="1219200"/>
            <a:ext cx="11769214" cy="522092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1.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Operating System on Jetson Nano (Jet Pack / Ubuntu)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Base runtime environment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Provides GPU drivers, camera access, and runs Python, OpenCV, detection pipeline.</a:t>
            </a:r>
          </a:p>
          <a:p>
            <a:pPr marL="457200" lvl="1" indent="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2.Python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Orchestrates frame capture, model inference, decision logic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Manages communication with robot interface / simulation</a:t>
            </a:r>
          </a:p>
          <a:p>
            <a:pPr marL="457200" lvl="1" indent="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3.OpenCV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Handles video capture from Raspberry Pi camera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Performs image pre‑processing (resize, </a:t>
            </a:r>
            <a:r>
              <a:rPr lang="en-IN" sz="1900" dirty="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 convert) and visualization (boxes, overlays)</a:t>
            </a:r>
          </a:p>
          <a:p>
            <a:pPr marL="457200" lvl="1" indent="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4.Roboflow‑based Human Detection Model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Deployed YOLO‑style human detector exported from Roboflow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Takes frames as input, outputs bounding boxes + confidence for humans</a:t>
            </a:r>
          </a:p>
          <a:p>
            <a:pPr marL="457200" lvl="1" indent="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5.Decision Logic / State Machine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Interprets detections vs. safety zone</a:t>
            </a:r>
          </a:p>
          <a:p>
            <a:pPr lvl="1"/>
            <a:r>
              <a:rPr lang="en-IN" sz="1900" dirty="0">
                <a:latin typeface="Arial" panose="020B0604020202020204" pitchFamily="34" charset="0"/>
                <a:cs typeface="Arial" panose="020B0604020202020204" pitchFamily="34" charset="0"/>
              </a:rPr>
              <a:t>Sends outputs signals to Excel Log File</a:t>
            </a: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D14D0-D264-C2CC-E2C9-AF93D4CF9E6C}"/>
              </a:ext>
            </a:extLst>
          </p:cNvPr>
          <p:cNvSpPr txBox="1"/>
          <p:nvPr/>
        </p:nvSpPr>
        <p:spPr>
          <a:xfrm>
            <a:off x="3814917" y="353961"/>
            <a:ext cx="106483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Software Components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C9BF47-0452-1628-4D8C-7D61857E62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E9B999-C36E-D0B3-E9EF-A883284B0F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9559" y="6493858"/>
            <a:ext cx="2333951" cy="29531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9763BD8-3F15-8C7B-296E-11257F442D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7947"/>
            <a:ext cx="4801270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1310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B8DAD5-B25E-FCC6-B961-09910CFF2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2612923" y="2203757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Process Flowchart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CA8F229-BD79-4FE2-FB9D-7A55E42FA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2DB823-AFE0-87D6-63AC-25E985B2B3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045" y="6398594"/>
            <a:ext cx="4887007" cy="39058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8BB77EE-FA88-1355-3D62-31A57316F5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434865"/>
            <a:ext cx="2333951" cy="295316"/>
          </a:xfrm>
          <a:prstGeom prst="rect">
            <a:avLst/>
          </a:prstGeom>
        </p:spPr>
      </p:pic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99CB43A-A12B-03C5-A13E-529001ADA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6566" y="95148"/>
            <a:ext cx="5673213" cy="637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32681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3B085-2E4A-82B4-D870-6F667CB3C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7259" y="1484671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1. Frame Input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Read image/video frame.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2. Human Detection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Run human detection model.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IF no human detected → Robot continues working.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IF human detected → Go to jacket colour detection.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3. Extract Person Region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Crop bounding box of detected human.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Focus on jacket (where jacket colour is visible).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4. Jacket Colour Detection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Analyze dominant colour of detected jacket area.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Convert image to RGB colour space.</a:t>
            </a:r>
          </a:p>
          <a:p>
            <a:pPr lvl="1">
              <a:lnSpc>
                <a:spcPct val="120000"/>
              </a:lnSpc>
            </a:pPr>
            <a:r>
              <a:rPr lang="en-IN" sz="7200" dirty="0">
                <a:latin typeface="Arial" panose="020B0604020202020204" pitchFamily="34" charset="0"/>
                <a:cs typeface="Arial" panose="020B0604020202020204" pitchFamily="34" charset="0"/>
              </a:rPr>
              <a:t>Check if colour falls in black colour range.</a:t>
            </a:r>
          </a:p>
          <a:p>
            <a:pPr marL="457200" lvl="1" indent="0">
              <a:buNone/>
            </a:pPr>
            <a:endParaRPr lang="en-IN" sz="2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04E3D-5330-36D0-8856-A80CE4589E8E}"/>
              </a:ext>
            </a:extLst>
          </p:cNvPr>
          <p:cNvSpPr txBox="1"/>
          <p:nvPr/>
        </p:nvSpPr>
        <p:spPr>
          <a:xfrm>
            <a:off x="6626942" y="1494504"/>
            <a:ext cx="5653548" cy="30534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5. Decision Logic</a:t>
            </a:r>
          </a:p>
          <a:p>
            <a:pPr lvl="1"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Jacket colour = Black →Access = TRUE</a:t>
            </a:r>
          </a:p>
          <a:p>
            <a:pPr lvl="1"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Robot = Continue operation</a:t>
            </a:r>
          </a:p>
          <a:p>
            <a:pPr lvl="1"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ELSE (Any other colour) →Access = FALSE</a:t>
            </a:r>
          </a:p>
          <a:p>
            <a:pPr lvl="1"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Robot = STOP immediately</a:t>
            </a:r>
          </a:p>
          <a:p>
            <a:pPr lvl="1"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Generate warning signal / message.</a:t>
            </a:r>
          </a:p>
          <a:p>
            <a:pPr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6. Safety Priority Rule</a:t>
            </a:r>
          </a:p>
          <a:p>
            <a:pPr lvl="1">
              <a:lnSpc>
                <a:spcPct val="120000"/>
              </a:lnSpc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If detection confidence is low → Treat as No Access → Stop robot (fail-safe design)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4B09C3-9FC9-7D23-FB49-92E9F94D1710}"/>
              </a:ext>
            </a:extLst>
          </p:cNvPr>
          <p:cNvSpPr txBox="1"/>
          <p:nvPr/>
        </p:nvSpPr>
        <p:spPr>
          <a:xfrm>
            <a:off x="934065" y="629265"/>
            <a:ext cx="101370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System Logic Run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BC20AA-AD56-E4BC-4519-6975C23805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5C06464-F514-9AE5-4999-B820FD976E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374" y="6467420"/>
            <a:ext cx="4887007" cy="39058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38211C7-9F46-11BD-6755-68E14B569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973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55ADA-FA65-D7DC-108C-857E49730F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13" y="247138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Experimental Setup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31BB02-19A8-BC39-D734-2F117BB689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4143" y="1176338"/>
            <a:ext cx="8988555" cy="505606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CDEAC3-DD2F-8F1F-E9AC-815A0DDC2BA1}"/>
              </a:ext>
            </a:extLst>
          </p:cNvPr>
          <p:cNvSpPr txBox="1"/>
          <p:nvPr/>
        </p:nvSpPr>
        <p:spPr>
          <a:xfrm>
            <a:off x="1573161" y="6145161"/>
            <a:ext cx="9448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Figure 1 : Experimental Setup for the Project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1E3D039-30E2-7C90-6260-1DE31DAB7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01A505B-BC28-5505-751D-6B6BE1A870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75677CB-44E3-F74F-F575-C221053907C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595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77950-94EB-7169-AF3E-98AAD2FD8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52" y="620763"/>
            <a:ext cx="10515600" cy="1325563"/>
          </a:xfrm>
        </p:spPr>
        <p:txBody>
          <a:bodyPr/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Connections Explained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191B3A-F1D1-B5CC-DA4B-A341BD3A1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071" y="1240607"/>
            <a:ext cx="10515600" cy="5056955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1.Raspberry Pi Camera → Jetson Nano (CSI)</a:t>
            </a:r>
          </a:p>
          <a:p>
            <a:pPr lvl="1">
              <a:lnSpc>
                <a:spcPct val="12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CSI connection for live video stream used in vision/AI processing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2.Keyboard &amp; Mouse → Jetson Nano (USB)</a:t>
            </a:r>
          </a:p>
          <a:p>
            <a:pPr lvl="1">
              <a:lnSpc>
                <a:spcPct val="12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Direct control of Jetson: terminal, code execution, debugging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3.Monitor → Jetson Nano (HDMI)</a:t>
            </a:r>
          </a:p>
          <a:p>
            <a:pPr lvl="1">
              <a:lnSpc>
                <a:spcPct val="12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Displays desktop, camera feed, and program output</a:t>
            </a:r>
          </a:p>
          <a:p>
            <a:pPr marL="457200" lvl="1" indent="0">
              <a:lnSpc>
                <a:spcPct val="120000"/>
              </a:lnSpc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4.Jetson Nano → Router (Ethernet)</a:t>
            </a:r>
          </a:p>
          <a:p>
            <a:pPr lvl="1">
              <a:lnSpc>
                <a:spcPct val="12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Provides network, SSH, file transfer, device communication</a:t>
            </a:r>
          </a:p>
          <a:p>
            <a:pPr lvl="1">
              <a:lnSpc>
                <a:spcPct val="120000"/>
              </a:lnSpc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Programming done via Jetson Nano terminal</a:t>
            </a:r>
          </a:p>
          <a:p>
            <a:pPr marL="0" indent="0">
              <a:buNone/>
            </a:pPr>
            <a:endParaRPr lang="en-IN" sz="19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ACFC8-20CB-304D-7AAC-B5A2E710AEF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AB1348-A872-AD36-4BD9-003B039132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864" y="6467420"/>
            <a:ext cx="4887007" cy="3905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1C8E574-841E-FC11-664C-C4FA0B1CF7F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9A894-F8A9-910A-D915-4933BBD4F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9542" y="43395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Program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23002F-22A6-1629-E6ED-D3570CC06C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4128" y="1873046"/>
            <a:ext cx="11641394" cy="4984954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1 – Initialize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Start program, prepare Excel log, load person‑detection AI model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2 – Open Video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Load pre‑recorded factory video, read frame by frame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3 – Person Detection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For each frame, AI checks for person presence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No person → robot keeps running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4 – Jacket Color Check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If person found, inspect body region and detect jacket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color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75C214-EBC7-77C2-201F-49158D44FC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44491DD-0E76-8564-72C5-7CC551C169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AD7E1B-49C3-44C5-AA45-FC241DA56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0AF489B-4F19-BCAE-D8D5-A2F79D6AC9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3696216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37556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15D7A5-4954-5A36-879D-5E20D65F1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2728" y="1422502"/>
            <a:ext cx="10515600" cy="4351338"/>
          </a:xfrm>
        </p:spPr>
        <p:txBody>
          <a:bodyPr/>
          <a:lstStyle/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5 – Safety Decision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Black jacket → authorized → Robot RUN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Non‑black jacket → unauthorized → Robot STOP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6 – Log Violations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For each unauthorized person: store timestamp and “Robot Stop” in Excel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7 – Visual Feedback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Draw bounding box and show “Robot Running / Robot Stop” on video</a:t>
            </a:r>
          </a:p>
          <a:p>
            <a:pPr marL="457200" lvl="1" indent="0">
              <a:buNone/>
            </a:pP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Step 8 – Close &amp; Save</a:t>
            </a:r>
          </a:p>
          <a:p>
            <a:pPr lvl="1"/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Save Excel safety log, release video, end program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D41D10E-A073-64BD-AA29-11BD4B0AC6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234CA77-E78D-EB62-8D87-1B96D3C973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51EDCF-838A-B136-4D84-4990D31F469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9318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4F294-332B-3073-D2A3-9887D1F25A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6858" y="-15731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Results Obtained</a:t>
            </a:r>
          </a:p>
        </p:txBody>
      </p:sp>
      <p:pic>
        <p:nvPicPr>
          <p:cNvPr id="4" name="WhatsApp Video 2026-02-06 at 18.37.01">
            <a:hlinkClick r:id="" action="ppaction://media"/>
            <a:extLst>
              <a:ext uri="{FF2B5EF4-FFF2-40B4-BE49-F238E27FC236}">
                <a16:creationId xmlns:a16="http://schemas.microsoft.com/office/drawing/2014/main" id="{8E724D73-B73C-CB24-ED5A-751E9FDBDFC3}"/>
              </a:ext>
            </a:extLst>
          </p:cNvPr>
          <p:cNvPicPr>
            <a:picLocks noGrp="1" noChangeAspect="1"/>
          </p:cNvPicPr>
          <p:nvPr>
            <p:ph idx="1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327354" y="832567"/>
            <a:ext cx="3185651" cy="4922740"/>
          </a:xfr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177329-66ED-6906-B331-16617E1A2A15}"/>
              </a:ext>
            </a:extLst>
          </p:cNvPr>
          <p:cNvSpPr txBox="1"/>
          <p:nvPr/>
        </p:nvSpPr>
        <p:spPr>
          <a:xfrm>
            <a:off x="172062" y="5773679"/>
            <a:ext cx="54962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Video 1 : AI Human Detection in a Robot cell with Person 1( wearing a Black Jacket)</a:t>
            </a:r>
          </a:p>
        </p:txBody>
      </p:sp>
      <p:pic>
        <p:nvPicPr>
          <p:cNvPr id="6" name="WhatsApp Video 2026-02-04 at 19.08.09_trimmed_roboflow_annotated">
            <a:hlinkClick r:id="" action="ppaction://media"/>
            <a:extLst>
              <a:ext uri="{FF2B5EF4-FFF2-40B4-BE49-F238E27FC236}">
                <a16:creationId xmlns:a16="http://schemas.microsoft.com/office/drawing/2014/main" id="{7B2DD6EF-B081-8DA8-9C4F-211B4B7B1664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7059559" y="811635"/>
            <a:ext cx="3207211" cy="495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9C7149-3EE8-4185-4FA4-307562006C7C}"/>
              </a:ext>
            </a:extLst>
          </p:cNvPr>
          <p:cNvSpPr txBox="1"/>
          <p:nvPr/>
        </p:nvSpPr>
        <p:spPr>
          <a:xfrm>
            <a:off x="6027174" y="5843944"/>
            <a:ext cx="58010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Video 2 : AI Human Detection in a Robot Cell with Person 2(without wearing a Black Jacket)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281678A-23F9-1D06-E33F-38E9F84AA54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2D9B88C-3762-FBF7-E735-0E023DFB4A5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35873"/>
            <a:ext cx="4887007" cy="39058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B725AA-CF8F-1BCD-57CA-87C864C3067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9727" y="6562684"/>
            <a:ext cx="2333951" cy="2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740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966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996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2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3" fill="hold">
                      <p:stCondLst>
                        <p:cond delay="0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9" fill="hold">
                      <p:stCondLst>
                        <p:cond delay="0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A463B-DF69-43F3-BB16-5FE84D7DF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4926" y="180457"/>
            <a:ext cx="4866543" cy="1009651"/>
          </a:xfrm>
        </p:spPr>
        <p:txBody>
          <a:bodyPr>
            <a:normAutofit/>
          </a:bodyPr>
          <a:lstStyle/>
          <a:p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Images Captured </a:t>
            </a:r>
            <a:endParaRPr lang="en-IN" sz="36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341182-1351-4974-8B94-146272CBAC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44FC57B-86C5-43F5-8891-EFC6DF84FD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5677" y="1091479"/>
            <a:ext cx="2993626" cy="508870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0677738-7F88-4FF1-BD6D-90286F7E13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5652" y="1064631"/>
            <a:ext cx="3012840" cy="51155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508A53D-9251-48F6-A7FA-BB219BAFB5B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86168" y="1064631"/>
            <a:ext cx="2993626" cy="51155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70B4D4-62BE-44CA-92A9-F09F74BFA29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2" y="1091479"/>
            <a:ext cx="2985720" cy="50887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75EF7C7-9277-4A7D-BEA3-98E1B17582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24541" y="6562684"/>
            <a:ext cx="2333951" cy="295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15BEE23-5562-4392-A054-BACBE4B3FAA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81FBBC-E037-7F71-C77D-A26A49B4B332}"/>
              </a:ext>
            </a:extLst>
          </p:cNvPr>
          <p:cNvSpPr txBox="1"/>
          <p:nvPr/>
        </p:nvSpPr>
        <p:spPr>
          <a:xfrm>
            <a:off x="1248696" y="6184491"/>
            <a:ext cx="102943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Figures 2,3,4,5 : AI Detection of Human in a Robot Cell</a:t>
            </a:r>
          </a:p>
        </p:txBody>
      </p:sp>
    </p:spTree>
    <p:extLst>
      <p:ext uri="{BB962C8B-B14F-4D97-AF65-F5344CB8AC3E}">
        <p14:creationId xmlns:p14="http://schemas.microsoft.com/office/powerpoint/2010/main" val="14921092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B1862-AE7A-31F2-06DB-0CF8FA19F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Program Output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6C4EF9F-08DE-C330-3F0E-7F428089D0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907" y="1334011"/>
            <a:ext cx="10586033" cy="49389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F3C05A9-2728-03ED-A5EB-40CAA896B644}"/>
              </a:ext>
            </a:extLst>
          </p:cNvPr>
          <p:cNvSpPr txBox="1"/>
          <p:nvPr/>
        </p:nvSpPr>
        <p:spPr>
          <a:xfrm>
            <a:off x="865239" y="6243484"/>
            <a:ext cx="110121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Figure 6 : Python Program Output ( Excel sheet 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0174B34-31AE-5508-8D26-7EFDAE11C2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FD54EB8-775F-4074-1274-9BCAA326BE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DE40F3C-373F-404A-7B51-93B3C1038F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57947"/>
            <a:ext cx="4801270" cy="20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6555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6D63B5-D24D-7812-8B29-B4199B63D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Limitations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EEB3DF0-6F69-CD5B-9D01-F520DC689B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id="{DA304A33-42E2-C0AD-CB79-ED8C825D0A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60987" y="1412943"/>
            <a:ext cx="9721645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 identification is limited to jacket color, which can be affected by lighting conditions, shadows, or similar colors.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Face recognition and identity differentiation are limited to a small number of known individuals.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may degrade under poor lighting, heavy occlusion, or reflective industrial surfaces.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Real-time performance is constrained by the hardware limitations of the Jetson Nano.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system has been tested mainly on pre-recorded or controlled scenarios, not continuous industrial operation.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D1DF869-E7BD-E333-A896-1C6D20138DC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B4DBB9B-8154-B529-A7BD-2C5C19D15E1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0331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63DC4-AE1C-54A8-D5CC-15D9A5971E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N" b="1" dirty="0">
                <a:latin typeface="Arial" panose="020B0604020202020204" pitchFamily="34" charset="0"/>
                <a:cs typeface="Arial" panose="020B0604020202020204" pitchFamily="34" charset="0"/>
              </a:rPr>
              <a:t>Future work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5D1DD87-6A3F-1E9B-3D55-472E022A897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63060" y="1446041"/>
            <a:ext cx="10075605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Integrate deep-learning–based face recognition instead of color-based identification for higher reliability.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 multi-camera support to cover blind spots and large robot cells.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robustness against lighting variations using adaptive preprocessing or HDR cameras.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dynamic safety zones that adapt to robot motion and task context.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 long-term testing in real industrial environments.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50CDD-F99A-621C-65B0-7F967042D9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10A5F3-F4E3-E2C5-4F67-4EC7299F9F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4EE66E-9A5D-2882-E9C5-0A90BFD46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5799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6DB0F-681A-F32E-FCA8-67543F3A5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549" y="610931"/>
            <a:ext cx="10515600" cy="1325563"/>
          </a:xfrm>
        </p:spPr>
        <p:txBody>
          <a:bodyPr>
            <a:normAutofit fontScale="90000"/>
          </a:bodyPr>
          <a:lstStyle/>
          <a:p>
            <a:pPr algn="ctr"/>
            <a:br>
              <a:rPr lang="en-IN" dirty="0"/>
            </a:br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Conclusion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E45F7D-D138-26F2-AD5D-F081953D12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4E2EC2-62A6-3EA2-B886-93397D47D2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0A65C53-F2EC-A163-1B03-2CF49649E35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6294E243-878D-6221-28FA-9419359A44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1426" y="1183735"/>
            <a:ext cx="11788612" cy="392440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198375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Jetson‑based AI safety system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deployed on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NVIDIA Jetson Nano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for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camera‑based human detection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in a robot cell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Reliable human‑only detection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while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ignoring robots, grippers, workpieces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Person‑specific logic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via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jacket color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to separate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authorized vs. unauthorized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persons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Fail‑safe safety logic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: robot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stops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when detection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confidence is low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Scene adaptability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through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configuration &amp; calibration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, no model retraining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Near real‑time performance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achieved on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limited compute</a:t>
            </a: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rgbClr val="424242"/>
              </a:solidFill>
              <a:effectLst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Demonstrates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vision‑based human detection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as a 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111827"/>
                </a:solidFill>
                <a:effectLst/>
                <a:cs typeface="Arial" panose="020B0604020202020204" pitchFamily="34" charset="0"/>
              </a:rPr>
              <a:t>flexible, intelligent safety layer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rgbClr val="424242"/>
                </a:solidFill>
                <a:effectLst/>
                <a:cs typeface="Arial" panose="020B0604020202020204" pitchFamily="34" charset="0"/>
              </a:rPr>
              <a:t> for industrial robot cells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rgbClr val="212121"/>
                </a:solidFill>
                <a:effectLst/>
                <a:latin typeface="Inter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5414828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8BE4-26A5-126D-9645-4A9CDC97E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535" y="39462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25810-CDEA-6338-F526-C60C387FD4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5" y="1284851"/>
            <a:ext cx="11965858" cy="4351338"/>
          </a:xfrm>
        </p:spPr>
        <p:txBody>
          <a:bodyPr>
            <a:noAutofit/>
          </a:bodyPr>
          <a:lstStyle/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NVIDIA Accelerated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GStreamer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: NVIDIA, "Accelerated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GStreamer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," in NVIDIA Jetson Linux Developer Guide, Rel. 35.5.0, June 2024. [Online]. Available: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https://docs.nvidia.com/jetson/archives/r35.5.0/DeveloperGuide/SD/Multimedia/AcceleratedGstreamer.html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Utility: NVIDIA, "Taking Your First Picture with CSI or USB Camera," in NVIDIA Developer Tutorials, [n.d.]. [Online]. Available: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https://developer.nvidia.com/embedded/learn/tutorials/first-picture-csi-usb-camera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Camera Software Architecture: NVIDIA, "Camera Development," in NVIDIA Jetson Linux Developer Guide, Sept. 2024. [Online]. Available: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4"/>
              </a:rPr>
              <a:t>https://docs.nvidia.com/jetson/archives/r35.4.1/DeveloperGuide/text/SD/CameraDevelopment.html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DashCamNet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Model: NVIDIA, "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DashCamNet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Model Card," in NGC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Catalog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Aug. 2024. [Online]. Available: 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  <a:hlinkClick r:id="rId5"/>
              </a:rPr>
              <a:t>https://catalog.ngc.nvidia.com/orgs/nvidia/teams/tao/models/dashcamnet</a:t>
            </a:r>
            <a:endParaRPr lang="en-IN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Multi-Camera AI Pipelines: NVIDIA, "Implementing Real-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Time,Multi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-Camera Pipelines with NVIDIA Jetson," NVIDIA Technical Blog, Apr. 2022. [Online]. Available: </a:t>
            </a:r>
            <a:r>
              <a:rPr lang="en-IN" sz="1800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https://developer.nvidia.com/blog/implementing-real-time-multi-camera-pipelines-with-nvidia-jetson/</a:t>
            </a:r>
            <a:endParaRPr lang="en-IN" sz="1800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Example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GStreamer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Pipelines: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RidgeRun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, "Jetson Nano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GStreamer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example pipelines," </a:t>
            </a:r>
            <a:r>
              <a:rPr lang="en-IN" sz="1800" dirty="0" err="1">
                <a:latin typeface="Arial" panose="020B0604020202020204" pitchFamily="34" charset="0"/>
                <a:cs typeface="Arial" panose="020B0604020202020204" pitchFamily="34" charset="0"/>
              </a:rPr>
              <a:t>RidgeRun</a:t>
            </a:r>
            <a:r>
              <a:rPr lang="en-IN" sz="1800" dirty="0">
                <a:latin typeface="Arial" panose="020B0604020202020204" pitchFamily="34" charset="0"/>
                <a:cs typeface="Arial" panose="020B0604020202020204" pitchFamily="34" charset="0"/>
              </a:rPr>
              <a:t> Developer Wiki, Nov. 2024. [Online]. Available: </a:t>
            </a:r>
            <a:r>
              <a:rPr lang="en-IN" sz="1800" u="sng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https://developer.ridgerun.com/wiki/index.php/Jetson_Nano/GStreamer/Example_Pipelines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98AE0F-4F64-F590-F94D-4C65896FFB6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3A0C64-20AD-1D87-FE51-2EB462B7BD5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734ADF2-D2C0-6C79-637E-26605DFD850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1045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978D9D-A119-1B27-F504-E164653D4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3600" b="1" dirty="0">
                <a:latin typeface="Arial" panose="020B0604020202020204" pitchFamily="34" charset="0"/>
                <a:cs typeface="Arial" panose="020B0604020202020204" pitchFamily="34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898188-F3E9-CA4C-D0CD-314BF656BF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5CCA0A-130A-648B-8DE6-454E69C68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696216" cy="70494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F308B74-DF0B-B04C-D317-E5BEFC4722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8049" y="6562684"/>
            <a:ext cx="2333951" cy="2953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5496900-6E39-5358-5253-6058D7220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67420"/>
            <a:ext cx="4887007" cy="390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69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820</TotalTime>
  <Words>1811</Words>
  <Application>Microsoft Office PowerPoint</Application>
  <PresentationFormat>Widescreen</PresentationFormat>
  <Paragraphs>210</Paragraphs>
  <Slides>22</Slides>
  <Notes>0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Inter</vt:lpstr>
      <vt:lpstr>Wingdings</vt:lpstr>
      <vt:lpstr>Office Theme</vt:lpstr>
      <vt:lpstr>AI human detection with Person-specific Recognition for a Robot Cell </vt:lpstr>
      <vt:lpstr>Aim and Objectives of the Project</vt:lpstr>
      <vt:lpstr>Project Motivation and Problem Statement</vt:lpstr>
      <vt:lpstr>Key Technical Challenges </vt:lpstr>
      <vt:lpstr>System Requirements</vt:lpstr>
      <vt:lpstr>PowerPoint Presentation</vt:lpstr>
      <vt:lpstr>PowerPoint Presentation</vt:lpstr>
      <vt:lpstr>PowerPoint Presentation</vt:lpstr>
      <vt:lpstr>Process Flowchart</vt:lpstr>
      <vt:lpstr>PowerPoint Presentation</vt:lpstr>
      <vt:lpstr>Experimental Setup</vt:lpstr>
      <vt:lpstr>Connections Explained </vt:lpstr>
      <vt:lpstr>Program Description</vt:lpstr>
      <vt:lpstr>PowerPoint Presentation</vt:lpstr>
      <vt:lpstr>Results Obtained</vt:lpstr>
      <vt:lpstr>Images Captured </vt:lpstr>
      <vt:lpstr>Program Output</vt:lpstr>
      <vt:lpstr>Limitations </vt:lpstr>
      <vt:lpstr>Future work</vt:lpstr>
      <vt:lpstr> Conclusion  </vt:lpstr>
      <vt:lpstr>References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human detection with Person-specific Recognition for a Robot Cell</dc:title>
  <dc:creator>charan prasad</dc:creator>
  <cp:lastModifiedBy>charan prasad</cp:lastModifiedBy>
  <cp:revision>16</cp:revision>
  <dcterms:created xsi:type="dcterms:W3CDTF">2026-02-06T15:37:45Z</dcterms:created>
  <dcterms:modified xsi:type="dcterms:W3CDTF">2026-02-09T18:15:58Z</dcterms:modified>
</cp:coreProperties>
</file>